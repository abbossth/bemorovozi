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F23EC4-BC79-4473-A886-529C635AA75E}" type="datetimeFigureOut">
              <a:rPr lang="ru-RU" smtClean="0"/>
              <a:t>19.09.2026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4E7F1-4105-4F8A-9158-242AA573B1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59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85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9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33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02226"/>
            </a:gs>
            <a:gs pos="100000">
              <a:srgbClr val="3A3E44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4114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" y="58521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6181D"/>
                </a:solidFill>
                <a:latin typeface="Poppins"/>
              </a:rPr>
              <a:t>100X DEVS — BEMOROVOZI</a:t>
            </a:r>
          </a:p>
        </p:txBody>
      </p:sp>
      <p:pic>
        <p:nvPicPr>
          <p:cNvPr id="6" name="Picture 5" descr="BemorOvozi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46217" y="86868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Poppins"/>
              </a:rPr>
              <a:t>Bemor</a:t>
            </a:r>
            <a:r>
              <a:rPr sz="5400" b="1">
                <a:solidFill>
                  <a:srgbClr val="34D399"/>
                </a:solidFill>
                <a:latin typeface="Poppins"/>
              </a:rPr>
              <a:t>Ovozi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747" y="288036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2A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2347" y="313639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oppins"/>
              </a:rPr>
              <a:t>Anonim 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347" y="36576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6D1"/>
                </a:solidFill>
                <a:latin typeface="Poppins"/>
              </a:rPr>
              <a:t>(matn/rasm/ovoz)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5587" y="3291840"/>
            <a:ext cx="411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Poppi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2787" y="288036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2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1387" y="313639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oppins"/>
              </a:rPr>
              <a:t>AI tahlil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1387" y="36576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6D1"/>
                </a:solidFill>
                <a:latin typeface="Poppins"/>
              </a:rPr>
              <a:t>&lt;10 sek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4627" y="3291840"/>
            <a:ext cx="411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Poppi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1827" y="2880360"/>
            <a:ext cx="3246120" cy="1417320"/>
          </a:xfrm>
          <a:prstGeom prst="roundRect">
            <a:avLst>
              <a:gd name="adj" fmla="val 8000"/>
            </a:avLst>
          </a:prstGeom>
          <a:solidFill>
            <a:srgbClr val="2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0427" y="3136392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oppins"/>
              </a:rPr>
              <a:t>Avto yo'naltirish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365760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6D1"/>
                </a:solidFill>
                <a:latin typeface="Poppins"/>
              </a:rPr>
              <a:t>+ bildirish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4D399"/>
                </a:solidFill>
                <a:latin typeface="Poppins"/>
              </a:rPr>
              <a:t>BemorOvozi</a:t>
            </a:r>
            <a:r>
              <a:rPr sz="1800" b="0">
                <a:solidFill>
                  <a:srgbClr val="FFFFFF"/>
                </a:solidFill>
                <a:latin typeface="Poppins"/>
              </a:rPr>
              <a:t> — shifoxonalar uchun QR + STT + AI.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E0332E"/>
                </a:solidFill>
                <a:latin typeface="Poppins"/>
              </a:rPr>
              <a:t>"Shikoyat qutisi" emas, faqat matn + STT qoldi.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6181D"/>
                </a:solidFill>
                <a:latin typeface="Poppins"/>
              </a:rPr>
              <a:t>MUAMMO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8686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0332E"/>
                </a:solidFill>
                <a:latin typeface="Poppins"/>
              </a:rPr>
              <a:t>Bemorlar shifoxonadagi muammolarni ochiq va xavfsiz ayta olmaydi.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Shaxsni fosh bo'lish qo'rquvi: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47288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Poppins"/>
              </a:rPr>
              <a:t>—  Qog'oz kitobcha va Telegram-botlar anonimlikni ta'minlamaydi, bemor ismini yozishdan qo'rqadi.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Signalning kechikishi: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407408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Poppins"/>
              </a:rPr>
              <a:t>—  Shikoyatlar ma'muriyatga davriy hisobotlar orqali juda kech yetib boradi.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Tizimli xatolar yo'qolishi va yozolmaslik: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67528"/>
            <a:ext cx="9418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Poppins"/>
              </a:rPr>
              <a:t>—  Bitta bo'limdagi takrorlanuvchi signallar alohida arizalar ichida ko'miladi. Keksa va savodxonligi past bemorlar fikr bildira olmaydi.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Muammo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8F63"/>
                </a:solidFill>
                <a:latin typeface="Poppins"/>
              </a:rPr>
              <a:t>Yechim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400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8F63"/>
                </a:solidFill>
                <a:latin typeface="Poppins"/>
              </a:rPr>
              <a:t>QR-kod va Sun'iy intellekt orqali 10 soniyada ma'muriyatga yetib boruvchi anonim ovoz.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3 Asosiy Funksiya: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—  Instant QR &amp; Ovozli Xabar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7880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—  AI Sentiment &amp; Avto-yo'naltirish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4573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—  Klasterlash va Tizimli Tahlil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051560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124712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8F63"/>
                </a:solidFill>
                <a:latin typeface="Poppi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373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81D"/>
                </a:solidFill>
                <a:latin typeface="Poppins"/>
              </a:rPr>
              <a:t>QR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Poppins"/>
              </a:rPr>
              <a:t>Bo'limga bog'langan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542032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2615184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8F63"/>
                </a:solidFill>
                <a:latin typeface="Poppi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2783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81D"/>
                </a:solidFill>
                <a:latin typeface="Poppins"/>
              </a:rPr>
              <a:t>Matn / Ovozni matnga aylantirish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50215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Poppins"/>
              </a:rPr>
              <a:t>Anonim, kuzatish kodi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032504"/>
            <a:ext cx="3840480" cy="12344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105656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F8F63"/>
                </a:solidFill>
                <a:latin typeface="Poppi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718304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6181D"/>
                </a:solidFill>
                <a:latin typeface="Poppins"/>
              </a:rPr>
              <a:t>AI &lt;10s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9926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Poppins"/>
              </a:rPr>
              <a:t>Jiddiylik, bo'lim, klaster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Yechim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457200"/>
            <a:ext cx="384048" cy="384048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572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1524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132320" y="5852160"/>
            <a:ext cx="4373575" cy="127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975360"/>
            <a:ext cx="7819446" cy="44704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525" y="960120"/>
            <a:ext cx="3410610" cy="55023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8F63"/>
                </a:solidFill>
                <a:latin typeface="Poppins"/>
              </a:rPr>
              <a:t>Market (Bozor Hajmi)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181D"/>
                </a:solidFill>
                <a:latin typeface="Poppins"/>
              </a:rPr>
              <a:t>Raqamlashtirishni kutayotgan tibbiyot bozori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22860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Poppins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26060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F8F63"/>
                </a:solidFill>
                <a:latin typeface="Poppins"/>
              </a:rPr>
              <a:t>$12M+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3474720"/>
            <a:ext cx="2313432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047" y="37490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Poppins"/>
              </a:rPr>
              <a:t>O'zbekistondagi barcha 1,200+ shifoxona va xususiy klinikalar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22860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Poppins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26060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F8F63"/>
                </a:solidFill>
                <a:latin typeface="Poppins"/>
              </a:rPr>
              <a:t>$2.5M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9927" y="3474720"/>
            <a:ext cx="1609344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49927" y="37490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Poppins"/>
              </a:rPr>
              <a:t>Toshkent va viloyat markazlaridagi 250+ yirik va o'rta shifoxonalar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1807" y="22860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7280"/>
                </a:solidFill>
                <a:latin typeface="Poppins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1807" y="26060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0F8F63"/>
                </a:solidFill>
                <a:latin typeface="Poppins"/>
              </a:rPr>
              <a:t>$350K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1807" y="3474720"/>
            <a:ext cx="955547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1807" y="374904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6181D"/>
                </a:solidFill>
                <a:latin typeface="Poppins"/>
              </a:rPr>
              <a:t>Birinchi 1.5 yilda qamrab olinadigan 60 ta shifoxona va klinika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436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280"/>
                </a:solidFill>
                <a:latin typeface="Poppins"/>
              </a:rPr>
              <a:t>Manba: O'zbekiston Respublikasi Sog'liqni saqlash statistikasi va ochiq ma'lumotlar.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181D"/>
                </a:solidFill>
                <a:latin typeface="Poppins"/>
              </a:rPr>
              <a:t>B2B SaaS — oylik/yillik moslashuvchan obuna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047" y="20116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647" y="22128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81D"/>
                </a:solidFill>
                <a:latin typeface="Poppins"/>
              </a:rPr>
              <a:t>Boshlang'ich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25786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Poppins"/>
              </a:rPr>
              <a:t>≤ 50 o'rin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647" y="3154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8F63"/>
                </a:solidFill>
                <a:latin typeface="Poppins"/>
              </a:rPr>
              <a:t>990,000 so'm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647" y="3657600"/>
            <a:ext cx="283464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$</a:t>
            </a:r>
            <a:r>
              <a:rPr lang="en-US" sz="1200" dirty="0" smtClean="0">
                <a:solidFill>
                  <a:srgbClr val="6B7280"/>
                </a:solidFill>
                <a:latin typeface="Poppins"/>
              </a:rPr>
              <a:t>84.99</a:t>
            </a: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 </a:t>
            </a:r>
            <a:r>
              <a:rPr sz="1200" b="0" i="0" dirty="0">
                <a:solidFill>
                  <a:srgbClr val="6B7280"/>
                </a:solidFill>
                <a:latin typeface="Poppins"/>
              </a:rPr>
              <a:t>/ </a:t>
            </a:r>
            <a:r>
              <a:rPr sz="1200" b="0" i="0" dirty="0" err="1">
                <a:solidFill>
                  <a:srgbClr val="6B7280"/>
                </a:solidFill>
                <a:latin typeface="Poppins"/>
              </a:rPr>
              <a:t>oyiga</a:t>
            </a:r>
            <a:endParaRPr sz="1200" b="0" i="0" dirty="0">
              <a:solidFill>
                <a:srgbClr val="6B7280"/>
              </a:solidFill>
              <a:latin typeface="Poppi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49927" y="20116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EAF7F1"/>
          </a:solidFill>
          <a:ln w="12700">
            <a:solidFill>
              <a:srgbClr val="0F8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8527" y="22128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81D"/>
                </a:solidFill>
                <a:latin typeface="Poppins"/>
              </a:rPr>
              <a:t>Standart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8527" y="25786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Poppins"/>
              </a:rPr>
              <a:t>50–200 o'rin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527" y="3154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8F63"/>
                </a:solidFill>
                <a:latin typeface="Poppins"/>
              </a:rPr>
              <a:t>1,790,000 so'm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527" y="3657600"/>
            <a:ext cx="283464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$</a:t>
            </a:r>
            <a:r>
              <a:rPr lang="en-US" sz="1200" dirty="0" smtClean="0">
                <a:solidFill>
                  <a:srgbClr val="6B7280"/>
                </a:solidFill>
                <a:latin typeface="Poppins"/>
              </a:rPr>
              <a:t>151.99 </a:t>
            </a: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/ </a:t>
            </a:r>
            <a:r>
              <a:rPr sz="1200" b="0" i="0" dirty="0" err="1">
                <a:solidFill>
                  <a:srgbClr val="6B7280"/>
                </a:solidFill>
                <a:latin typeface="Poppins"/>
              </a:rPr>
              <a:t>oyiga</a:t>
            </a:r>
            <a:endParaRPr sz="1200" b="0" i="0" dirty="0">
              <a:solidFill>
                <a:srgbClr val="6B7280"/>
              </a:solidFill>
              <a:latin typeface="Poppin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61807" y="2011680"/>
            <a:ext cx="3291840" cy="219456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0407" y="22128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6181D"/>
                </a:solidFill>
                <a:latin typeface="Poppins"/>
              </a:rPr>
              <a:t>Professional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407" y="257860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Poppins"/>
              </a:rPr>
              <a:t>200+ o'rin / davlat shifoxonasi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1546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8F63"/>
                </a:solidFill>
                <a:latin typeface="Poppins"/>
              </a:rPr>
              <a:t>3,490,000 so'm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407" y="3657600"/>
            <a:ext cx="2834640" cy="2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$</a:t>
            </a:r>
            <a:r>
              <a:rPr lang="en-US" sz="1200" dirty="0" smtClean="0">
                <a:solidFill>
                  <a:srgbClr val="6B7280"/>
                </a:solidFill>
                <a:latin typeface="Poppins"/>
              </a:rPr>
              <a:t>294,99 </a:t>
            </a:r>
            <a:r>
              <a:rPr sz="1200" b="0" i="0" dirty="0" smtClean="0">
                <a:solidFill>
                  <a:srgbClr val="6B7280"/>
                </a:solidFill>
                <a:latin typeface="Poppins"/>
              </a:rPr>
              <a:t> </a:t>
            </a:r>
            <a:r>
              <a:rPr sz="1200" b="0" i="0" dirty="0">
                <a:solidFill>
                  <a:srgbClr val="6B7280"/>
                </a:solidFill>
                <a:latin typeface="Poppins"/>
              </a:rPr>
              <a:t>/ </a:t>
            </a:r>
            <a:r>
              <a:rPr sz="1200" b="0" i="0" dirty="0" err="1">
                <a:solidFill>
                  <a:srgbClr val="6B7280"/>
                </a:solidFill>
                <a:latin typeface="Poppins"/>
              </a:rPr>
              <a:t>oyiga</a:t>
            </a:r>
            <a:endParaRPr sz="1200" b="0" i="0" dirty="0">
              <a:solidFill>
                <a:srgbClr val="6B7280"/>
              </a:solidFill>
              <a:latin typeface="Poppin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461772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82312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Unit Economics (o'rta shifoxona uchun): 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4D399"/>
                </a:solidFill>
                <a:latin typeface="Poppins"/>
              </a:rPr>
              <a:t>LTV: </a:t>
            </a:r>
            <a:r>
              <a:rPr sz="1300" b="0">
                <a:solidFill>
                  <a:srgbClr val="FFFFFF"/>
                </a:solidFill>
                <a:latin typeface="Poppins"/>
              </a:rPr>
              <a:t>$7,200 (2 yillik obuna)   </a:t>
            </a:r>
            <a:r>
              <a:rPr sz="1300" b="1">
                <a:solidFill>
                  <a:srgbClr val="34D399"/>
                </a:solidFill>
                <a:latin typeface="Poppins"/>
              </a:rPr>
              <a:t>CAC: </a:t>
            </a:r>
            <a:r>
              <a:rPr sz="1300" b="0">
                <a:solidFill>
                  <a:srgbClr val="FFFFFF"/>
                </a:solidFill>
                <a:latin typeface="Poppins"/>
              </a:rPr>
              <a:t>$400   </a:t>
            </a:r>
            <a:r>
              <a:rPr sz="1300" b="1">
                <a:solidFill>
                  <a:srgbClr val="34D399"/>
                </a:solidFill>
                <a:latin typeface="Poppins"/>
              </a:rPr>
              <a:t>LTV/CAC: </a:t>
            </a:r>
            <a:r>
              <a:rPr sz="1300" b="0">
                <a:solidFill>
                  <a:srgbClr val="FFFFFF"/>
                </a:solidFill>
                <a:latin typeface="Poppins"/>
              </a:rPr>
              <a:t>18x (yuqori rentabellik)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Business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8F63"/>
                </a:solidFill>
                <a:latin typeface="Poppins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6181D"/>
                </a:solidFill>
                <a:latin typeface="Poppins"/>
              </a:rPr>
              <a:t>Hakaton davomida to'liq ishlaydigan MVP va AI yadrosi yaratildi.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386584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331720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 dirty="0">
                <a:solidFill>
                  <a:srgbClr val="16181D"/>
                </a:solidFill>
                <a:latin typeface="Poppins"/>
              </a:rPr>
              <a:t>AI Sentiment (Past / </a:t>
            </a:r>
            <a:r>
              <a:rPr sz="1500" b="0" i="0" dirty="0" err="1">
                <a:solidFill>
                  <a:srgbClr val="16181D"/>
                </a:solidFill>
                <a:latin typeface="Poppins"/>
              </a:rPr>
              <a:t>O'rta</a:t>
            </a:r>
            <a:r>
              <a:rPr sz="1500" b="0" i="0" dirty="0">
                <a:solidFill>
                  <a:srgbClr val="16181D"/>
                </a:solidFill>
                <a:latin typeface="Poppins"/>
              </a:rPr>
              <a:t> / </a:t>
            </a:r>
            <a:r>
              <a:rPr sz="1500" b="0" i="0" dirty="0" err="1">
                <a:solidFill>
                  <a:srgbClr val="16181D"/>
                </a:solidFill>
                <a:latin typeface="Poppins"/>
              </a:rPr>
              <a:t>Yuqori</a:t>
            </a:r>
            <a:r>
              <a:rPr sz="1500" b="0" i="0" dirty="0">
                <a:solidFill>
                  <a:srgbClr val="16181D"/>
                </a:solidFill>
                <a:latin typeface="Poppins"/>
              </a:rPr>
              <a:t>) </a:t>
            </a:r>
            <a:r>
              <a:rPr sz="1500" b="0" i="0" dirty="0" err="1">
                <a:solidFill>
                  <a:srgbClr val="16181D"/>
                </a:solidFill>
                <a:latin typeface="Poppins"/>
              </a:rPr>
              <a:t>aniqligi</a:t>
            </a:r>
            <a:r>
              <a:rPr sz="1500" b="0" i="0" dirty="0">
                <a:solidFill>
                  <a:srgbClr val="16181D"/>
                </a:solidFill>
                <a:latin typeface="Poppins"/>
              </a:rPr>
              <a:t> test </a:t>
            </a:r>
            <a:r>
              <a:rPr sz="1500" b="0" i="0" dirty="0" err="1">
                <a:solidFill>
                  <a:srgbClr val="16181D"/>
                </a:solidFill>
                <a:latin typeface="Poppins"/>
              </a:rPr>
              <a:t>qilindi</a:t>
            </a:r>
            <a:endParaRPr sz="1500" b="0" i="0" dirty="0">
              <a:solidFill>
                <a:srgbClr val="16181D"/>
              </a:solidFill>
              <a:latin typeface="Poppin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85800" y="3044952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990088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181D"/>
                </a:solidFill>
                <a:latin typeface="Poppins"/>
              </a:rPr>
              <a:t>Voice-to-Text (ovozli xabar → matn) moduli integratsiya qilindi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703320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3648456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181D"/>
                </a:solidFill>
                <a:latin typeface="Poppins"/>
              </a:rPr>
              <a:t>Sintetik ma'lumotlar bilan 10 ta klasterlash stsenariysi sinovdan o'tkazildi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61688"/>
            <a:ext cx="146304" cy="1463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4306824"/>
            <a:ext cx="9326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181D"/>
                </a:solidFill>
                <a:latin typeface="Poppins"/>
              </a:rPr>
              <a:t>1 ta xususiy klinika bilan dastlabki pilot sinov kelishuvi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Poppins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4090"/>
            <a:ext cx="2834640" cy="21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latin typeface="Poppins"/>
              </a:rPr>
              <a:t>Xususiyat</a:t>
            </a:r>
            <a:endParaRPr sz="1300" b="1" i="0" dirty="0"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40480" y="132588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4D399"/>
                </a:solidFill>
                <a:latin typeface="Poppins"/>
              </a:rPr>
              <a:t>BemorOvozi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4090"/>
            <a:ext cx="2468880" cy="21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latin typeface="Poppins"/>
              </a:rPr>
              <a:t>Qog'oz</a:t>
            </a:r>
            <a:r>
              <a:rPr sz="1300" b="1" i="0" dirty="0">
                <a:latin typeface="Poppins"/>
              </a:rPr>
              <a:t> </a:t>
            </a:r>
            <a:r>
              <a:rPr sz="1300" b="1" i="0" dirty="0" err="1">
                <a:latin typeface="Poppins"/>
              </a:rPr>
              <a:t>Kitobcha</a:t>
            </a:r>
            <a:endParaRPr sz="1300" b="1" i="0" dirty="0">
              <a:latin typeface="Poppi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0" y="1504090"/>
            <a:ext cx="2468880" cy="2105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latin typeface="Poppins"/>
              </a:rPr>
              <a:t>Call-Center / 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8"/>
            <a:ext cx="10820095" cy="12700"/>
          </a:xfrm>
          <a:prstGeom prst="rect">
            <a:avLst/>
          </a:prstGeom>
          <a:solidFill>
            <a:srgbClr val="4A4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04139"/>
            <a:ext cx="2834640" cy="2185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latin typeface="Poppins"/>
              </a:rPr>
              <a:t>To'liq</a:t>
            </a:r>
            <a:r>
              <a:rPr sz="1350" b="1" i="0" dirty="0">
                <a:latin typeface="Poppins"/>
              </a:rPr>
              <a:t> </a:t>
            </a:r>
            <a:r>
              <a:rPr sz="1350" b="1" i="0" dirty="0" err="1">
                <a:latin typeface="Poppins"/>
              </a:rPr>
              <a:t>Anonimlik</a:t>
            </a:r>
            <a:endParaRPr sz="1350" b="1" i="0" dirty="0"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1396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Poppi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157984"/>
            <a:ext cx="18288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latin typeface="Poppin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396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57984"/>
            <a:ext cx="18288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latin typeface="Poppins"/>
              </a:rPr>
              <a:t>Yuzma-yuz</a:t>
            </a:r>
            <a:endParaRPr sz="1200" b="0" i="0" dirty="0">
              <a:latin typeface="Poppi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0" y="2139696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157984"/>
            <a:ext cx="18288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latin typeface="Poppins"/>
              </a:rPr>
              <a:t>Tel. </a:t>
            </a:r>
            <a:r>
              <a:rPr sz="1200" b="0" i="0" dirty="0" err="1">
                <a:latin typeface="Poppins"/>
              </a:rPr>
              <a:t>raqam</a:t>
            </a:r>
            <a:endParaRPr sz="1200" b="0" i="0" dirty="0">
              <a:latin typeface="Poppi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2596896"/>
            <a:ext cx="10820095" cy="9525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880795"/>
            <a:ext cx="2834640" cy="2185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 err="1">
                <a:latin typeface="Poppins"/>
              </a:rPr>
              <a:t>Ovozli</a:t>
            </a:r>
            <a:r>
              <a:rPr sz="1350" b="1" i="0" dirty="0">
                <a:latin typeface="Poppins"/>
              </a:rPr>
              <a:t> </a:t>
            </a:r>
            <a:r>
              <a:rPr sz="1350" b="1" i="0" dirty="0" err="1">
                <a:latin typeface="Poppins"/>
              </a:rPr>
              <a:t>xabar</a:t>
            </a:r>
            <a:r>
              <a:rPr sz="1350" b="1" i="0" dirty="0">
                <a:latin typeface="Poppins"/>
              </a:rPr>
              <a:t> (STT)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163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Poppi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163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163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273552"/>
            <a:ext cx="10820095" cy="9525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557451"/>
            <a:ext cx="2834640" cy="2185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latin typeface="Poppins"/>
              </a:rPr>
              <a:t>AI </a:t>
            </a:r>
            <a:r>
              <a:rPr sz="1350" b="1" i="0" dirty="0" err="1">
                <a:latin typeface="Poppins"/>
              </a:rPr>
              <a:t>Avto-Tahlil</a:t>
            </a:r>
            <a:r>
              <a:rPr sz="1350" b="1" i="0" dirty="0">
                <a:latin typeface="Poppins"/>
              </a:rPr>
              <a:t> &amp; </a:t>
            </a:r>
            <a:r>
              <a:rPr sz="1350" b="1" i="0" dirty="0" err="1">
                <a:latin typeface="Poppins"/>
              </a:rPr>
              <a:t>Klaster</a:t>
            </a:r>
            <a:endParaRPr sz="1350" b="1" i="0" dirty="0">
              <a:latin typeface="Poppi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40480" y="34930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Poppi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4930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9300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950208"/>
            <a:ext cx="10820095" cy="9525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234107"/>
            <a:ext cx="2834640" cy="21858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latin typeface="Poppins"/>
              </a:rPr>
              <a:t>Real-</a:t>
            </a:r>
            <a:r>
              <a:rPr sz="1350" b="1" i="0" dirty="0" err="1">
                <a:latin typeface="Poppins"/>
              </a:rPr>
              <a:t>vaqt</a:t>
            </a:r>
            <a:r>
              <a:rPr sz="1350" b="1" i="0" dirty="0">
                <a:latin typeface="Poppins"/>
              </a:rPr>
              <a:t>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5240" y="4187952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2C55E"/>
                </a:solidFill>
                <a:latin typeface="Poppin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6966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0332E"/>
                </a:solidFill>
                <a:latin typeface="Poppins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16966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D97706"/>
                </a:solidFill>
                <a:latin typeface="Poppins"/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4187952"/>
            <a:ext cx="1828800" cy="194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 err="1">
                <a:solidFill>
                  <a:schemeClr val="accent6"/>
                </a:solidFill>
                <a:latin typeface="Poppins"/>
              </a:rPr>
              <a:t>Sekin</a:t>
            </a:r>
            <a:endParaRPr sz="1200" b="0" i="0" dirty="0">
              <a:solidFill>
                <a:schemeClr val="accent6"/>
              </a:solidFill>
              <a:latin typeface="Poppin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85800" y="4626864"/>
            <a:ext cx="10820095" cy="9525"/>
          </a:xfrm>
          <a:prstGeom prst="rect">
            <a:avLst/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5010912"/>
            <a:ext cx="54864" cy="457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01091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Poppins"/>
              </a:rPr>
              <a:t>G'oya: An'anaviy usullardan 10x tezroq va xavfsizroq.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09A"/>
                </a:solidFill>
                <a:latin typeface="Poppins"/>
              </a:rPr>
              <a:t>BemorOvozi · Competition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1215" y="4114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ru-RU" sz="1400" dirty="0" smtClean="0">
                <a:solidFill>
                  <a:schemeClr val="bg1"/>
                </a:solidFill>
              </a:rPr>
              <a:t>+</a:t>
            </a:r>
            <a:r>
              <a:rPr lang="ru-RU" sz="1400" dirty="0">
                <a:solidFill>
                  <a:schemeClr val="bg1"/>
                </a:solidFill>
              </a:rPr>
              <a:t>998 91 798 36 06</a:t>
            </a:r>
            <a:endParaRPr sz="1300" b="0" i="0" dirty="0">
              <a:solidFill>
                <a:schemeClr val="bg1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" y="502920"/>
            <a:ext cx="384048" cy="384048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6181D"/>
                </a:solidFill>
                <a:latin typeface="Poppin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6181D"/>
                </a:solidFill>
                <a:latin typeface="Poppins"/>
              </a:rPr>
              <a:t>Rivojlanish xaritasi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31920"/>
            <a:ext cx="10820095" cy="317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60804" y="3867912"/>
            <a:ext cx="164592" cy="164592"/>
          </a:xfrm>
          <a:prstGeom prst="ellipse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0F8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295144"/>
            <a:ext cx="2185416" cy="194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b="1" dirty="0" err="1" smtClean="0">
                <a:solidFill>
                  <a:srgbClr val="0F8F63"/>
                </a:solidFill>
                <a:latin typeface="Poppins"/>
              </a:rPr>
              <a:t>Sentyabr</a:t>
            </a:r>
            <a:r>
              <a:rPr sz="1100" b="1" i="0" dirty="0" smtClean="0">
                <a:solidFill>
                  <a:srgbClr val="0F8F63"/>
                </a:solidFill>
                <a:latin typeface="Poppins"/>
              </a:rPr>
              <a:t> </a:t>
            </a:r>
            <a:r>
              <a:rPr sz="1100" b="1" i="0" dirty="0">
                <a:solidFill>
                  <a:srgbClr val="0F8F63"/>
                </a:solidFill>
                <a:latin typeface="Poppins"/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87752"/>
            <a:ext cx="2185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81D"/>
                </a:solidFill>
                <a:latin typeface="Poppins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71800"/>
            <a:ext cx="21854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Poppins"/>
              </a:rPr>
              <a:t>Pilot sinovlar va AI modelini real ma'lumotlarda o'qitish.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6524" y="3611880"/>
            <a:ext cx="19050" cy="320040"/>
          </a:xfrm>
          <a:prstGeom prst="rect">
            <a:avLst/>
          </a:prstGeom>
          <a:solidFill>
            <a:srgbClr val="0F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29302" y="3867912"/>
            <a:ext cx="164592" cy="164592"/>
          </a:xfrm>
          <a:prstGeom prst="ellipse">
            <a:avLst/>
          </a:prstGeom>
          <a:solidFill>
            <a:srgbClr val="2B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54298" y="4251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2B6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8890" y="4398264"/>
            <a:ext cx="2185416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b="1" i="0" dirty="0" err="1" smtClean="0">
                <a:solidFill>
                  <a:srgbClr val="2B6CE0"/>
                </a:solidFill>
                <a:latin typeface="Poppins"/>
              </a:rPr>
              <a:t>Sentyabr</a:t>
            </a:r>
            <a:r>
              <a:rPr lang="en-US" sz="1100" b="1" i="0" dirty="0" smtClean="0">
                <a:solidFill>
                  <a:srgbClr val="2B6CE0"/>
                </a:solidFill>
                <a:latin typeface="Poppins"/>
              </a:rPr>
              <a:t> 2026</a:t>
            </a:r>
            <a:endParaRPr sz="1100" b="1" i="0" dirty="0">
              <a:solidFill>
                <a:srgbClr val="2B6CE0"/>
              </a:solidFill>
              <a:latin typeface="Poppi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8890" y="4690872"/>
            <a:ext cx="2185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81D"/>
                </a:solidFill>
                <a:latin typeface="Poppins"/>
              </a:rPr>
              <a:t>Ishga tushish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8890" y="5074920"/>
            <a:ext cx="21854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Poppins"/>
              </a:rPr>
              <a:t>Bo'lim mudirlari uchun mobil ilova va 10 ta klinika.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5022" y="4014216"/>
            <a:ext cx="19050" cy="237744"/>
          </a:xfrm>
          <a:prstGeom prst="rect">
            <a:avLst/>
          </a:prstGeom>
          <a:solidFill>
            <a:srgbClr val="2B6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97800" y="3867912"/>
            <a:ext cx="164592" cy="164592"/>
          </a:xfrm>
          <a:prstGeom prst="ellipse">
            <a:avLst/>
          </a:prstGeom>
          <a:solidFill>
            <a:srgbClr val="B45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2796" y="214884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B459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7388" y="2295144"/>
            <a:ext cx="2185416" cy="194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b="1" i="0" dirty="0" err="1" smtClean="0">
                <a:solidFill>
                  <a:srgbClr val="B4592E"/>
                </a:solidFill>
                <a:latin typeface="Poppins"/>
              </a:rPr>
              <a:t>Noyabr</a:t>
            </a:r>
            <a:r>
              <a:rPr sz="1100" b="1" i="0" dirty="0" smtClean="0">
                <a:solidFill>
                  <a:srgbClr val="B4592E"/>
                </a:solidFill>
                <a:latin typeface="Poppins"/>
              </a:rPr>
              <a:t> </a:t>
            </a:r>
            <a:r>
              <a:rPr sz="1100" b="1" i="0" dirty="0">
                <a:solidFill>
                  <a:srgbClr val="B4592E"/>
                </a:solidFill>
                <a:latin typeface="Poppins"/>
              </a:rP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7388" y="2587752"/>
            <a:ext cx="2185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81D"/>
                </a:solidFill>
                <a:latin typeface="Poppins"/>
              </a:rPr>
              <a:t>Kengayish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7388" y="2971800"/>
            <a:ext cx="21854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Poppins"/>
              </a:rPr>
              <a:t>30 ta shifoxona va SMS-qayta aloqa tizimi.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43520" y="3611880"/>
            <a:ext cx="19050" cy="320040"/>
          </a:xfrm>
          <a:prstGeom prst="rect">
            <a:avLst/>
          </a:prstGeom>
          <a:solidFill>
            <a:srgbClr val="B45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66299" y="3867912"/>
            <a:ext cx="164592" cy="164592"/>
          </a:xfrm>
          <a:prstGeom prst="ellipse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91295" y="4251960"/>
            <a:ext cx="2514600" cy="146304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 w="12700">
            <a:solidFill>
              <a:srgbClr val="8A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5887" y="4398264"/>
            <a:ext cx="2185416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100" b="1" i="0" dirty="0" err="1" smtClean="0">
                <a:solidFill>
                  <a:srgbClr val="8A3FA8"/>
                </a:solidFill>
                <a:latin typeface="Poppins"/>
              </a:rPr>
              <a:t>Dekabr</a:t>
            </a:r>
            <a:r>
              <a:rPr sz="1100" b="1" i="0" dirty="0" smtClean="0">
                <a:solidFill>
                  <a:srgbClr val="8A3FA8"/>
                </a:solidFill>
                <a:latin typeface="Poppins"/>
              </a:rPr>
              <a:t> 202</a:t>
            </a:r>
            <a:r>
              <a:rPr lang="en-US" sz="1100" b="1" i="0" dirty="0" smtClean="0">
                <a:solidFill>
                  <a:srgbClr val="8A3FA8"/>
                </a:solidFill>
                <a:latin typeface="Poppins"/>
              </a:rPr>
              <a:t>6</a:t>
            </a:r>
            <a:endParaRPr sz="1100" b="1" i="0" dirty="0">
              <a:solidFill>
                <a:srgbClr val="8A3FA8"/>
              </a:solidFill>
              <a:latin typeface="Poppi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55887" y="4690872"/>
            <a:ext cx="21854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6181D"/>
                </a:solidFill>
                <a:latin typeface="Poppins"/>
              </a:rPr>
              <a:t>B2G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5887" y="5074920"/>
            <a:ext cx="21854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7280"/>
                </a:solidFill>
                <a:latin typeface="Poppins"/>
              </a:rPr>
              <a:t>Vazirlik darajasidagi hududiy agregatsiya paneli.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12019" y="4014216"/>
            <a:ext cx="19050" cy="237744"/>
          </a:xfrm>
          <a:prstGeom prst="rect">
            <a:avLst/>
          </a:prstGeom>
          <a:solidFill>
            <a:srgbClr val="8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CA3AF"/>
                </a:solidFill>
                <a:latin typeface="Poppins"/>
              </a:rPr>
              <a:t>BemorOvozi ·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1000"/>
            <a:ext cx="3248025" cy="3981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-99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Nega </a:t>
            </a:r>
            <a:r>
              <a:rPr kumimoji="0" lang="en-US" sz="3300" b="1" i="0" u="none" strike="noStrike" kern="0" cap="none" spc="-99" normalizeH="0" baseline="0" noProof="0" dirty="0">
                <a:ln>
                  <a:noFill/>
                </a:ln>
                <a:solidFill>
                  <a:srgbClr val="008988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100x Devs?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393" y="469553"/>
            <a:ext cx="2399407" cy="3095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468743" y="555278"/>
            <a:ext cx="21327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0" cap="none" spc="66" normalizeH="0" baseline="0" noProof="0" dirty="0">
                <a:ln>
                  <a:noFill/>
                </a:ln>
                <a:solidFill>
                  <a:srgbClr val="FDFDEF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6 OY BIRGA • XORAZM • 38 INTERVYU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50565"/>
            <a:ext cx="2705100" cy="438778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1025" y="1076325"/>
            <a:ext cx="2457450" cy="2209800"/>
          </a:xfrm>
          <a:prstGeom prst="roundRect">
            <a:avLst>
              <a:gd name="adj" fmla="val 6034"/>
            </a:avLst>
          </a:prstGeom>
          <a:solidFill>
            <a:srgbClr val="F3FFFB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074390"/>
            <a:ext cx="2457450" cy="22098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81025" y="3398490"/>
            <a:ext cx="2457450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2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Abbos — CEO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623221"/>
            <a:ext cx="471785" cy="23812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66750" y="3680371"/>
            <a:ext cx="30033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25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>
                <a:ln>
                  <a:noFill/>
                </a:ln>
                <a:solidFill>
                  <a:srgbClr val="008988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LIDER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5"/>
          <p:cNvSpPr txBox="1"/>
          <p:nvPr/>
        </p:nvSpPr>
        <p:spPr>
          <a:xfrm>
            <a:off x="581025" y="3937546"/>
            <a:ext cx="2457450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Tibbiyot</a:t>
            </a: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sohasini</a:t>
            </a: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chuqur</a:t>
            </a: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o’rgangan</a:t>
            </a:r>
            <a:endParaRPr kumimoji="0" lang="en-US" sz="9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 dirty="0" smtClean="0">
                <a:latin typeface="DM Sans" pitchFamily="34" charset="0"/>
                <a:ea typeface="DM Sans" pitchFamily="34" charset="-122"/>
              </a:rPr>
              <a:t>2 </a:t>
            </a:r>
            <a:r>
              <a:rPr lang="en-US" sz="900" noProof="0" dirty="0" err="1" smtClean="0">
                <a:latin typeface="DM Sans" pitchFamily="34" charset="0"/>
                <a:ea typeface="DM Sans" pitchFamily="34" charset="-122"/>
              </a:rPr>
              <a:t>yillik</a:t>
            </a:r>
            <a:r>
              <a:rPr lang="en-US" sz="900" noProof="0" dirty="0" smtClean="0">
                <a:latin typeface="DM Sans" pitchFamily="34" charset="0"/>
                <a:ea typeface="DM Sans" pitchFamily="34" charset="-122"/>
              </a:rPr>
              <a:t> startup </a:t>
            </a:r>
            <a:r>
              <a:rPr lang="en-US" sz="900" noProof="0" dirty="0" err="1" smtClean="0">
                <a:latin typeface="DM Sans" pitchFamily="34" charset="0"/>
                <a:ea typeface="DM Sans" pitchFamily="34" charset="-122"/>
              </a:rPr>
              <a:t>tajriba</a:t>
            </a:r>
            <a:endParaRPr lang="en-US" sz="900" noProof="0" dirty="0" smtClean="0">
              <a:latin typeface="DM Sans" pitchFamily="34" charset="0"/>
              <a:ea typeface="DM Sans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OsonMenu</a:t>
            </a:r>
            <a:r>
              <a:rPr lang="en-US" sz="900" dirty="0">
                <a:latin typeface="DM Sans" pitchFamily="34" charset="0"/>
                <a:ea typeface="DM Sans" pitchFamily="34" charset="-122"/>
              </a:rPr>
              <a:t> </a:t>
            </a:r>
            <a:r>
              <a:rPr lang="en-US" sz="900" dirty="0" smtClean="0">
                <a:latin typeface="DM Sans" pitchFamily="34" charset="0"/>
                <a:ea typeface="DM Sans" pitchFamily="34" charset="-122"/>
              </a:rPr>
              <a:t>startup</a:t>
            </a:r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IT</a:t>
            </a:r>
            <a:r>
              <a:rPr kumimoji="0" lang="en-US" sz="9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 Mentor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950565"/>
            <a:ext cx="2705100" cy="4387789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438525" y="1076325"/>
            <a:ext cx="2457450" cy="2209800"/>
          </a:xfrm>
          <a:prstGeom prst="roundRect">
            <a:avLst>
              <a:gd name="adj" fmla="val 6034"/>
            </a:avLst>
          </a:prstGeom>
          <a:solidFill>
            <a:srgbClr val="F3FFFB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525" y="1074390"/>
            <a:ext cx="2457450" cy="22098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438525" y="3398490"/>
            <a:ext cx="2457450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2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Islombek — CTO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3623221"/>
            <a:ext cx="452735" cy="23812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3524250" y="3680371"/>
            <a:ext cx="28128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25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 smtClean="0">
                <a:ln>
                  <a:noFill/>
                </a:ln>
                <a:solidFill>
                  <a:srgbClr val="0A7A78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TECH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9"/>
          <p:cNvSpPr txBox="1"/>
          <p:nvPr/>
        </p:nvSpPr>
        <p:spPr>
          <a:xfrm>
            <a:off x="3438525" y="3937546"/>
            <a:ext cx="2457450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Frontend 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ba</a:t>
            </a: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Backend </a:t>
            </a:r>
            <a:r>
              <a:rPr kumimoji="0" lang="en-US" sz="9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dasturchi</a:t>
            </a:r>
            <a:endParaRPr kumimoji="0" lang="en-US" sz="9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latin typeface="DM Sans" pitchFamily="34" charset="0"/>
                <a:ea typeface="DM Sans" pitchFamily="34" charset="-122"/>
              </a:rPr>
              <a:t>Software Engineer 1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</a:rPr>
              <a:t>yillik</a:t>
            </a:r>
            <a:r>
              <a:rPr lang="en-US" sz="900" dirty="0" smtClean="0">
                <a:latin typeface="DM Sans" pitchFamily="34" charset="0"/>
                <a:ea typeface="DM Sans" pitchFamily="34" charset="-122"/>
              </a:rPr>
              <a:t>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</a:rPr>
              <a:t>tajriba</a:t>
            </a:r>
            <a:endParaRPr lang="en-US" sz="900" dirty="0" smtClean="0">
              <a:latin typeface="DM Sans" pitchFamily="34" charset="0"/>
              <a:ea typeface="DM Sans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Startup</a:t>
            </a:r>
            <a:r>
              <a:rPr kumimoji="0" lang="en-US" sz="9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 </a:t>
            </a:r>
            <a:r>
              <a:rPr kumimoji="0" lang="en-US" sz="900" b="0" i="0" u="none" strike="noStrike" kern="1200" cap="none" spc="0" normalizeH="0" noProof="0" dirty="0" err="1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  <a:cs typeface="+mn-cs"/>
              </a:rPr>
              <a:t>yordamchi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50565"/>
            <a:ext cx="2705100" cy="4387789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6296025" y="1076325"/>
            <a:ext cx="2457450" cy="2209800"/>
          </a:xfrm>
          <a:prstGeom prst="roundRect">
            <a:avLst>
              <a:gd name="adj" fmla="val 6034"/>
            </a:avLst>
          </a:prstGeom>
          <a:solidFill>
            <a:srgbClr val="F3FFFB"/>
          </a:solidFill>
          <a:ln/>
        </p:spPr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6025" y="1074390"/>
            <a:ext cx="2457450" cy="220980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296025" y="3398490"/>
            <a:ext cx="2457450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2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Ruxsora — Biz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6025" y="3623221"/>
            <a:ext cx="691604" cy="238125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6381750" y="3680371"/>
            <a:ext cx="52015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25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>
                <a:ln>
                  <a:noFill/>
                </a:ln>
                <a:solidFill>
                  <a:srgbClr val="FDFDEF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B2B / B2G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3"/>
          <p:cNvSpPr txBox="1"/>
          <p:nvPr/>
        </p:nvSpPr>
        <p:spPr>
          <a:xfrm>
            <a:off x="6296025" y="3937546"/>
            <a:ext cx="2457450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lang="en-US" sz="9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Bozor</a:t>
            </a:r>
            <a:r>
              <a:rPr lang="en-US" sz="9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9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monetizatsiya</a:t>
            </a:r>
            <a:r>
              <a:rPr lang="en-US" sz="9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9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viloyat</a:t>
            </a:r>
            <a:r>
              <a:rPr lang="en-US" sz="9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SSV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aloqa</a:t>
            </a:r>
            <a:endParaRPr lang="en-US" sz="900" dirty="0" smtClean="0"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DM Sans" pitchFamily="34" charset="0"/>
                <a:ea typeface="DM Sans" pitchFamily="34" charset="-122"/>
              </a:rPr>
              <a:t>Speaker</a:t>
            </a: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lang="en-US" sz="900" dirty="0" err="1" smtClean="0">
                <a:latin typeface="DM Sans" pitchFamily="34" charset="0"/>
                <a:ea typeface="DM Sans" pitchFamily="34" charset="-122"/>
                <a:cs typeface="+mn-cs"/>
              </a:rPr>
              <a:t>Analitik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+mn-cs"/>
            </a:endParaRPr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950565"/>
            <a:ext cx="2705100" cy="4387789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9153525" y="1076325"/>
            <a:ext cx="2457450" cy="2209800"/>
          </a:xfrm>
          <a:prstGeom prst="roundRect">
            <a:avLst>
              <a:gd name="adj" fmla="val 6034"/>
            </a:avLst>
          </a:prstGeom>
          <a:solidFill>
            <a:srgbClr val="F3FFFB"/>
          </a:solidFill>
          <a:ln/>
        </p:spPr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3525" y="1074390"/>
            <a:ext cx="2457450" cy="2209800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9153525" y="3398490"/>
            <a:ext cx="2457450" cy="1675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2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Oymonjon — 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3525" y="3623221"/>
            <a:ext cx="334714" cy="257175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9248775" y="3689896"/>
            <a:ext cx="1442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25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60" normalizeH="0" baseline="0" noProof="0" dirty="0">
                <a:ln>
                  <a:noFill/>
                </a:ln>
                <a:solidFill>
                  <a:srgbClr val="13302B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UX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17"/>
          <p:cNvSpPr txBox="1"/>
          <p:nvPr/>
        </p:nvSpPr>
        <p:spPr>
          <a:xfrm>
            <a:off x="9034305" y="3937546"/>
            <a:ext cx="2457450" cy="1541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Anonim</a:t>
            </a: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 UX,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bemor</a:t>
            </a: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uchun</a:t>
            </a: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qulay</a:t>
            </a:r>
            <a:endParaRPr lang="en-US" sz="900" dirty="0" smtClean="0"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2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yillik</a:t>
            </a: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tajriba</a:t>
            </a:r>
            <a:r>
              <a:rPr lang="en-US" sz="900" dirty="0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Dizayner</a:t>
            </a:r>
            <a:endParaRPr lang="en-US" sz="900" dirty="0" smtClean="0"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r>
              <a:rPr lang="en-US" sz="900" dirty="0" err="1" smtClean="0">
                <a:latin typeface="DM Sans" pitchFamily="34" charset="0"/>
                <a:ea typeface="DM Sans" pitchFamily="34" charset="-122"/>
                <a:cs typeface="DM Sans" pitchFamily="34" charset="-120"/>
              </a:rPr>
              <a:t>Figma</a:t>
            </a:r>
            <a:endParaRPr lang="en-US" sz="900" dirty="0"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endParaRPr lang="en-US" sz="900" dirty="0">
              <a:latin typeface="DM Sans" pitchFamily="34" charset="0"/>
              <a:ea typeface="DM Sans" pitchFamily="34" charset="-122"/>
            </a:endParaRPr>
          </a:p>
          <a:p>
            <a:pPr lvl="0" defTabSz="914400">
              <a:lnSpc>
                <a:spcPts val="1215"/>
              </a:lnSpc>
              <a:spcBef>
                <a:spcPts val="600"/>
              </a:spcBef>
            </a:pPr>
            <a:endParaRPr lang="en-US" sz="900" dirty="0"/>
          </a:p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alpha val="70000"/>
                </a:schemeClr>
              </a:solidFill>
              <a:effectLst/>
              <a:uLnTx/>
              <a:uFillTx/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690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AABBB5"/>
                </a:solidFill>
                <a:latin typeface="Lexend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ABBB5"/>
                </a:solidFill>
                <a:effectLst/>
                <a:uLnTx/>
                <a:uFillTx/>
                <a:latin typeface="Lexend"/>
                <a:ea typeface="+mn-ea"/>
                <a:cs typeface="+mn-cs"/>
              </a:rPr>
              <a:t>ETIBOR UCHUN RAHMAT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/>
                <a:ea typeface="+mn-ea"/>
                <a:cs typeface="+mn-cs"/>
              </a:rPr>
              <a:t>Bemorlar jim </a:t>
            </a:r>
            <a:r>
              <a:rPr kumimoji="0" sz="6000" b="1" i="0" u="none" strike="noStrike" kern="1200" cap="none" spc="0" normalizeH="0" baseline="0" noProof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latin typeface="Lexend"/>
                <a:ea typeface="+mn-ea"/>
                <a:cs typeface="+mn-cs"/>
              </a:rPr>
              <a:t>turmasin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566160"/>
            <a:ext cx="3044952" cy="19050"/>
          </a:xfrm>
          <a:prstGeom prst="rect">
            <a:avLst/>
          </a:prstGeom>
          <a:solidFill>
            <a:srgbClr val="3D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>
                <a:solidFill>
                  <a:srgbClr val="C0C0C0"/>
                </a:solidFill>
                <a:latin typeface="Lexend"/>
              </a:defRPr>
            </a:pPr>
            <a:r>
              <a:rPr kumimoji="0" sz="28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Lexend"/>
                <a:ea typeface="+mn-ea"/>
                <a:cs typeface="+mn-cs"/>
              </a:rPr>
              <a:t>Savollar bormi?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3DD2C2"/>
                </a:solidFill>
                <a:latin typeface="Lexend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latin typeface="Lexend"/>
                <a:ea typeface="+mn-ea"/>
                <a:cs typeface="+mn-cs"/>
              </a:rPr>
              <a:t>100X DEVS • MUROJAAT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30352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3DD2C2"/>
                </a:solidFill>
                <a:latin typeface="DM Sans"/>
              </a:defRPr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ea typeface="+mn-ea"/>
                <a:cs typeface="+mn-cs"/>
              </a:rPr>
              <a:t>  </a:t>
            </a:r>
            <a:r>
              <a:rPr kumimoji="0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ea typeface="+mn-ea"/>
                <a:cs typeface="+mn-cs"/>
              </a:rPr>
              <a:t>abbossth</a:t>
            </a:r>
            <a:r>
              <a:rPr kumimoji="0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ea typeface="+mn-ea"/>
                <a:cs typeface="+mn-cs"/>
              </a:rPr>
              <a:t> 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3DD2C2"/>
                </a:solidFill>
                <a:effectLst/>
                <a:uLnTx/>
                <a:uFillTx/>
                <a:ea typeface="+mn-ea"/>
                <a:cs typeface="+mn-cs"/>
              </a:rPr>
              <a:t>•  +998 91 798 36 06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6" y="842010"/>
            <a:ext cx="1188720" cy="118872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472" y="5328475"/>
            <a:ext cx="236655" cy="23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577</Words>
  <Application>Microsoft Office PowerPoint</Application>
  <PresentationFormat>Широкоэкранный</PresentationFormat>
  <Paragraphs>156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DM Sans</vt:lpstr>
      <vt:lpstr>Lexend</vt:lpstr>
      <vt:lpstr>Poppins</vt:lpstr>
      <vt:lpstr>Office Theme</vt:lpstr>
      <vt:lpstr>1_Office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Islombek_laptop</dc:creator>
  <cp:keywords/>
  <dc:description>generated using python-pptx</dc:description>
  <cp:lastModifiedBy>Islombek_laptop</cp:lastModifiedBy>
  <cp:revision>13</cp:revision>
  <dcterms:created xsi:type="dcterms:W3CDTF">2013-01-27T09:14:16Z</dcterms:created>
  <dcterms:modified xsi:type="dcterms:W3CDTF">2026-09-19T12:48:58Z</dcterms:modified>
  <cp:category/>
</cp:coreProperties>
</file>